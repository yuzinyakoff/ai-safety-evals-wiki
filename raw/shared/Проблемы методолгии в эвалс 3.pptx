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Nuni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uni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1943c6a5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1943c6a5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1be8ee23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1be8ee23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4bf8cc5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4bf8cc5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56c32800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56c32800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53b26957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53b26957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4bf8cc5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4bf8cc5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4bf8cc54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4bf8cc54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4bf8cc5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4bf8cc5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4bf8cc54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4bf8cc54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56c32800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56c32800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56c32800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56c32800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4bf8cc54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4bf8cc54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4bf8cc549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4bf8cc549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4bf8cc54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4bf8cc54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4bf8cc54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4bf8cc54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4bf8cc54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4bf8cc54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4bf8cc54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4bf8cc54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4bf8cc54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4bf8cc54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4bf8cc54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4bf8cc54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4bf8cc54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4bf8cc54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1be8ee23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1be8ee23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464103" y="744575"/>
            <a:ext cx="5644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464100" y="2834125"/>
            <a:ext cx="5246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915475"/>
            <a:ext cx="2618400" cy="26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3448525" y="1821275"/>
            <a:ext cx="2618400" cy="27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2" name="Google Shape;72;p17"/>
          <p:cNvCxnSpPr/>
          <p:nvPr/>
        </p:nvCxnSpPr>
        <p:spPr>
          <a:xfrm>
            <a:off x="205300" y="1609700"/>
            <a:ext cx="942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7"/>
          <p:cNvCxnSpPr/>
          <p:nvPr/>
        </p:nvCxnSpPr>
        <p:spPr>
          <a:xfrm rot="10800000">
            <a:off x="205300" y="362300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 1">
  <p:cSld name="TITLE_AND_TWO_COLUMNS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311700" y="272150"/>
            <a:ext cx="72159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311700" y="1457275"/>
            <a:ext cx="2584800" cy="30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2" type="body"/>
          </p:nvPr>
        </p:nvSpPr>
        <p:spPr>
          <a:xfrm>
            <a:off x="3689400" y="1457275"/>
            <a:ext cx="2686200" cy="30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8"/>
          <p:cNvSpPr txBox="1"/>
          <p:nvPr>
            <p:ph idx="3" type="subTitle"/>
          </p:nvPr>
        </p:nvSpPr>
        <p:spPr>
          <a:xfrm>
            <a:off x="332025" y="1055775"/>
            <a:ext cx="3417900" cy="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1800"/>
              <a:buNone/>
              <a:defRPr>
                <a:solidFill>
                  <a:srgbClr val="F3555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4" type="subTitle"/>
          </p:nvPr>
        </p:nvSpPr>
        <p:spPr>
          <a:xfrm>
            <a:off x="3684825" y="1055775"/>
            <a:ext cx="3417900" cy="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1800"/>
              <a:buNone/>
              <a:defRPr>
                <a:solidFill>
                  <a:srgbClr val="F3555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1" name="Google Shape;81;p18"/>
          <p:cNvCxnSpPr/>
          <p:nvPr/>
        </p:nvCxnSpPr>
        <p:spPr>
          <a:xfrm>
            <a:off x="205300" y="1609700"/>
            <a:ext cx="942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8"/>
          <p:cNvCxnSpPr/>
          <p:nvPr/>
        </p:nvCxnSpPr>
        <p:spPr>
          <a:xfrm>
            <a:off x="3537000" y="1588775"/>
            <a:ext cx="942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8"/>
          <p:cNvCxnSpPr/>
          <p:nvPr/>
        </p:nvCxnSpPr>
        <p:spPr>
          <a:xfrm rot="10800000">
            <a:off x="205300" y="362300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134">
          <p15:clr>
            <a:srgbClr val="E46962"/>
          </p15:clr>
        </p15:guide>
        <p15:guide id="2" pos="351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9"/>
          <p:cNvCxnSpPr/>
          <p:nvPr/>
        </p:nvCxnSpPr>
        <p:spPr>
          <a:xfrm>
            <a:off x="205300" y="1609700"/>
            <a:ext cx="942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9"/>
          <p:cNvCxnSpPr/>
          <p:nvPr/>
        </p:nvCxnSpPr>
        <p:spPr>
          <a:xfrm rot="10800000">
            <a:off x="205300" y="362300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5555"/>
              </a:buClr>
              <a:buSzPts val="2400"/>
              <a:buNone/>
              <a:defRPr sz="2400">
                <a:solidFill>
                  <a:srgbClr val="F35555"/>
                </a:solidFill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311700" y="1766400"/>
            <a:ext cx="3550500" cy="28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3" name="Google Shape;93;p20"/>
          <p:cNvCxnSpPr/>
          <p:nvPr/>
        </p:nvCxnSpPr>
        <p:spPr>
          <a:xfrm>
            <a:off x="205300" y="1609700"/>
            <a:ext cx="942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20"/>
          <p:cNvCxnSpPr/>
          <p:nvPr/>
        </p:nvCxnSpPr>
        <p:spPr>
          <a:xfrm rot="10800000">
            <a:off x="205300" y="362300"/>
            <a:ext cx="0" cy="565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8" name="Google Shape;98;p21"/>
          <p:cNvCxnSpPr/>
          <p:nvPr/>
        </p:nvCxnSpPr>
        <p:spPr>
          <a:xfrm rot="10800000">
            <a:off x="341375" y="1266525"/>
            <a:ext cx="0" cy="2658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2" name="Google Shape;102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7" name="Google Shape;10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0" name="Google Shape;110;p24"/>
          <p:cNvSpPr txBox="1"/>
          <p:nvPr>
            <p:ph idx="1" type="body"/>
          </p:nvPr>
        </p:nvSpPr>
        <p:spPr>
          <a:xfrm>
            <a:off x="311700" y="3152225"/>
            <a:ext cx="60312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0" y="0"/>
            <a:ext cx="985437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unito"/>
              <a:buNone/>
              <a:defRPr sz="28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unito"/>
              <a:buChar char="●"/>
              <a:defRPr sz="18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○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■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○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■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●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○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unito"/>
              <a:buChar char="■"/>
              <a:defRPr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6900" y="4797900"/>
            <a:ext cx="3726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Центр дополнительного образования “Моноид” </a:t>
            </a:r>
            <a:r>
              <a:rPr b="1" i="1" lang="en" sz="9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2026</a:t>
            </a:r>
            <a:endParaRPr b="1" i="1" sz="9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hyperlink" Target="https://metr.org/blog/2025-06-05-recent-reward-hacking/" TargetMode="External"/><Relationship Id="rId10" Type="http://schemas.openxmlformats.org/officeDocument/2006/relationships/image" Target="../media/image7.png"/><Relationship Id="rId13" Type="http://schemas.openxmlformats.org/officeDocument/2006/relationships/hyperlink" Target="https://www.youtube.com/watch?v=K8p8_VlFHUk" TargetMode="External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hyperlink" Target="https://www.alignmentforum.org/posts/pdaGN6pQyQarFHXF4/reward-is-not-the-optimization-target" TargetMode="External"/><Relationship Id="rId9" Type="http://schemas.openxmlformats.org/officeDocument/2006/relationships/hyperlink" Target="https://deepmind.google/blog/specification-gaming-the-flip-side-of-ai-ingenuity/" TargetMode="External"/><Relationship Id="rId5" Type="http://schemas.openxmlformats.org/officeDocument/2006/relationships/image" Target="../media/image6.png"/><Relationship Id="rId6" Type="http://schemas.openxmlformats.org/officeDocument/2006/relationships/hyperlink" Target="https://deepmindsafetyresearch.medium.com/goal-misgeneralisation-why-correct-specifications-arent-enough-for-correct-goals-cf96ebc60924" TargetMode="External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44"/>
              <a:t>Лекция 3: операционализация целей с перспективы 3 лица</a:t>
            </a:r>
            <a:endParaRPr sz="326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311700" y="445025"/>
            <a:ext cx="827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Проблемы методологии evals в контексте AI safety</a:t>
            </a:r>
            <a:endParaRPr/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152475"/>
            <a:ext cx="868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Этот цикл из трех лекций про то, почему методология evals и ее улучшение, это релевантная для AI safety задача.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Лекция 1: про контекст в котором возникает проблема,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Лекция 2: про evals как эмпирический инструмент исследований и </a:t>
            </a:r>
            <a:r>
              <a:rPr lang="en"/>
              <a:t>про подходы к улучшению методологии evals.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Лекция 3: про цели от 3 лица как рамку проекта на этот курс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Итог правок в содержание лекций</a:t>
            </a:r>
            <a:endParaRPr/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Проблемы методологии evals в контексте AI safety </a:t>
            </a:r>
            <a:r>
              <a:rPr lang="en"/>
              <a:t>здесь</a:t>
            </a:r>
            <a:r>
              <a:rPr lang="en"/>
              <a:t> больше ни при чем!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311700" y="281219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Лекция 3: про цели от 3 лица как рамку проекта на этот курс</a:t>
            </a:r>
            <a:endParaRPr/>
          </a:p>
        </p:txBody>
      </p:sp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311700" y="1915475"/>
            <a:ext cx="2618400" cy="26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Цель лекции: понять достаточно, чтобы решить хотите ли вы на проект по этой теме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9"/>
          <p:cNvSpPr txBox="1"/>
          <p:nvPr>
            <p:ph idx="2" type="body"/>
          </p:nvPr>
        </p:nvSpPr>
        <p:spPr>
          <a:xfrm>
            <a:off x="3779650" y="1159975"/>
            <a:ext cx="5503800" cy="3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b="1" lang="en" sz="1463"/>
              <a:t>План встречи:</a:t>
            </a:r>
            <a:endParaRPr b="1" sz="1463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en" sz="1763"/>
              <a:t>Часть 1. Подлежащие концепции и допущения</a:t>
            </a:r>
            <a:endParaRPr b="1" sz="1763"/>
          </a:p>
          <a:p>
            <a:pPr indent="-321469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Предпарадигмальное состояние и evals и AI safety</a:t>
            </a:r>
            <a:endParaRPr sz="1463"/>
          </a:p>
          <a:p>
            <a:pPr indent="-32146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Потенциал и влияние evals</a:t>
            </a:r>
            <a:endParaRPr sz="1463"/>
          </a:p>
          <a:p>
            <a:pPr indent="-32146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Central alignment problem</a:t>
            </a:r>
            <a:endParaRPr sz="1463"/>
          </a:p>
          <a:p>
            <a:pPr indent="-32146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Ontology identification problem</a:t>
            </a:r>
            <a:endParaRPr sz="1463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en" sz="1763"/>
              <a:t>Часть 2. Об исследовании</a:t>
            </a:r>
            <a:endParaRPr b="1" sz="1763"/>
          </a:p>
          <a:p>
            <a:pPr indent="-321469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Рамка целей от 3 лица</a:t>
            </a:r>
            <a:endParaRPr sz="1463"/>
          </a:p>
          <a:p>
            <a:pPr indent="-32146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Задача с точки зрения evals</a:t>
            </a:r>
            <a:endParaRPr sz="1463"/>
          </a:p>
          <a:p>
            <a:pPr indent="-32146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3"/>
              <a:buAutoNum type="arabicPeriod"/>
            </a:pPr>
            <a:r>
              <a:rPr lang="en" sz="1463"/>
              <a:t>Вопросы исследования</a:t>
            </a:r>
            <a:endParaRPr sz="1463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rPr i="1" lang="en" sz="1463"/>
              <a:t>  Длительность встречи: 2 часа </a:t>
            </a:r>
            <a:endParaRPr i="1" sz="1463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type="title"/>
          </p:nvPr>
        </p:nvSpPr>
        <p:spPr>
          <a:xfrm>
            <a:off x="311700" y="2150850"/>
            <a:ext cx="8520600" cy="119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Часть 1. </a:t>
            </a:r>
            <a:r>
              <a:rPr lang="en"/>
              <a:t>Подлежащие концепции и допущения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311700" y="445025"/>
            <a:ext cx="88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Предпарадигмальное состояние и evals и AI safety</a:t>
            </a:r>
            <a:endParaRPr/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11700" y="1915475"/>
            <a:ext cx="2618400" cy="26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Предпарадигмальная стадия — это состояние науки, в котором: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нет единого набора базовых теорий и допущений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отсутствует согласие о том, какие вопросы важны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нет стандартных методов исследования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конкурируют несколько школ с разными объяснениями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результаты плохо сопоставимы между собой</a:t>
            </a:r>
            <a:endParaRPr/>
          </a:p>
        </p:txBody>
      </p:sp>
      <p:sp>
        <p:nvSpPr>
          <p:cNvPr id="149" name="Google Shape;149;p31"/>
          <p:cNvSpPr txBox="1"/>
          <p:nvPr>
            <p:ph idx="2" type="body"/>
          </p:nvPr>
        </p:nvSpPr>
        <p:spPr>
          <a:xfrm>
            <a:off x="3448525" y="1017725"/>
            <a:ext cx="4611900" cy="3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Роль эмпирики в науке и режимы провала предпарадигмальных наук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Эксперимент отвечает на вопрос “что произошло”,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Теория отвечает на вопрос “что именно из этого следует”.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Когда теория плохая, на второй вопрос начинают отвечать как душе угодно. Получая что угодно, но не контроль через предсказательную силу.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Когда практика плохая, цепочки причин и следдствий могут описывать что угодно, и совсем не обязательно реальный мир </a:t>
            </a:r>
            <a:endParaRPr/>
          </a:p>
        </p:txBody>
      </p:sp>
      <p:sp>
        <p:nvSpPr>
          <p:cNvPr id="150" name="Google Shape;150;p31"/>
          <p:cNvSpPr/>
          <p:nvPr/>
        </p:nvSpPr>
        <p:spPr>
          <a:xfrm>
            <a:off x="3331925" y="4643576"/>
            <a:ext cx="1266600" cy="397200"/>
          </a:xfrm>
          <a:prstGeom prst="rect">
            <a:avLst/>
          </a:prstGeom>
          <a:solidFill>
            <a:schemeClr val="lt2"/>
          </a:solidFill>
          <a:ln cap="flat" cmpd="sng" w="7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325" lIns="69325" spcFirstLastPara="1" rIns="69325" wrap="square" tIns="6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>
                <a:latin typeface="Nunito"/>
                <a:ea typeface="Nunito"/>
                <a:cs typeface="Nunito"/>
                <a:sym typeface="Nunito"/>
              </a:rPr>
              <a:t>хорошая</a:t>
            </a:r>
            <a:endParaRPr sz="106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" name="Google Shape;151;p31"/>
          <p:cNvSpPr/>
          <p:nvPr/>
        </p:nvSpPr>
        <p:spPr>
          <a:xfrm>
            <a:off x="4714170" y="4643576"/>
            <a:ext cx="1432500" cy="397200"/>
          </a:xfrm>
          <a:prstGeom prst="rect">
            <a:avLst/>
          </a:prstGeom>
          <a:solidFill>
            <a:schemeClr val="lt2"/>
          </a:solidFill>
          <a:ln cap="flat" cmpd="sng" w="7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325" lIns="69325" spcFirstLastPara="1" rIns="69325" wrap="square" tIns="6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>
                <a:latin typeface="Nunito"/>
                <a:ea typeface="Nunito"/>
                <a:cs typeface="Nunito"/>
                <a:sym typeface="Nunito"/>
              </a:rPr>
              <a:t>проверка практикой</a:t>
            </a:r>
            <a:endParaRPr sz="106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31"/>
          <p:cNvSpPr/>
          <p:nvPr/>
        </p:nvSpPr>
        <p:spPr>
          <a:xfrm>
            <a:off x="6262445" y="4643576"/>
            <a:ext cx="1266600" cy="397200"/>
          </a:xfrm>
          <a:prstGeom prst="rect">
            <a:avLst/>
          </a:prstGeom>
          <a:solidFill>
            <a:schemeClr val="lt2"/>
          </a:solidFill>
          <a:ln cap="flat" cmpd="sng" w="7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325" lIns="69325" spcFirstLastPara="1" rIns="69325" wrap="square" tIns="6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>
                <a:latin typeface="Nunito"/>
                <a:ea typeface="Nunito"/>
                <a:cs typeface="Nunito"/>
                <a:sym typeface="Nunito"/>
              </a:rPr>
              <a:t>хороших</a:t>
            </a:r>
            <a:endParaRPr sz="106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" name="Google Shape;153;p31"/>
          <p:cNvSpPr/>
          <p:nvPr/>
        </p:nvSpPr>
        <p:spPr>
          <a:xfrm>
            <a:off x="7644689" y="4643576"/>
            <a:ext cx="1266600" cy="397200"/>
          </a:xfrm>
          <a:prstGeom prst="rect">
            <a:avLst/>
          </a:prstGeom>
          <a:solidFill>
            <a:schemeClr val="lt2"/>
          </a:solidFill>
          <a:ln cap="flat" cmpd="sng" w="72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325" lIns="69325" spcFirstLastPara="1" rIns="69325" wrap="square" tIns="6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>
                <a:latin typeface="Nunito"/>
                <a:ea typeface="Nunito"/>
                <a:cs typeface="Nunito"/>
                <a:sym typeface="Nunito"/>
              </a:rPr>
              <a:t>моделей</a:t>
            </a:r>
            <a:endParaRPr sz="106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type="title"/>
          </p:nvPr>
        </p:nvSpPr>
        <p:spPr>
          <a:xfrm>
            <a:off x="311700" y="445025"/>
            <a:ext cx="943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Потенциал и влияние evals на экзистенциальные риски</a:t>
            </a:r>
            <a:endParaRPr/>
          </a:p>
        </p:txBody>
      </p:sp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311700" y="1629575"/>
            <a:ext cx="2812800" cy="29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Рамка рисков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ближний горизонт</a:t>
            </a:r>
            <a:r>
              <a:rPr lang="en"/>
              <a:t> – провал по заявленным или подразумеваемым характеристикам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средний горизонт </a:t>
            </a:r>
            <a:r>
              <a:rPr lang="en"/>
              <a:t>– проблемы вызванные внедрением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большой горизонт </a:t>
            </a:r>
            <a:r>
              <a:rPr lang="en"/>
              <a:t>– цивилизационные и экзистенциальные риски</a:t>
            </a:r>
            <a:endParaRPr/>
          </a:p>
        </p:txBody>
      </p:sp>
      <p:sp>
        <p:nvSpPr>
          <p:cNvPr id="160" name="Google Shape;160;p32"/>
          <p:cNvSpPr txBox="1"/>
          <p:nvPr>
            <p:ph idx="2" type="body"/>
          </p:nvPr>
        </p:nvSpPr>
        <p:spPr>
          <a:xfrm>
            <a:off x="3448525" y="1443925"/>
            <a:ext cx="5496600" cy="31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единственный доступный нам в области ИИ эмпирический </a:t>
            </a:r>
            <a:r>
              <a:rPr lang="en"/>
              <a:t>инструмент</a:t>
            </a:r>
            <a:r>
              <a:rPr lang="en"/>
              <a:t>, evals влияет на все три уровня.  Автору данного доклада интересен 3-ий уровень.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Точки влияния evals: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принятие решений про ИИ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операционализация концепций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п</a:t>
            </a:r>
            <a:r>
              <a:rPr lang="en"/>
              <a:t>роцесс накопления знаний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Эмпирический подход в ИИ является необходимым этапом если мы хотим достичь стандартного в других областях уровня инженерного понимания. Он не заменяет математически обоснованную, проверяемую, консистентную теорию.</a:t>
            </a:r>
            <a:endParaRPr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alignment problem</a:t>
            </a:r>
            <a:endParaRPr/>
          </a:p>
        </p:txBody>
      </p:sp>
      <p:sp>
        <p:nvSpPr>
          <p:cNvPr id="166" name="Google Shape;166;p33"/>
          <p:cNvSpPr txBox="1"/>
          <p:nvPr>
            <p:ph idx="1" type="body"/>
          </p:nvPr>
        </p:nvSpPr>
        <p:spPr>
          <a:xfrm>
            <a:off x="311700" y="1915475"/>
            <a:ext cx="2618400" cy="26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конструировать ИИ с четко заданной конкретной целью.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Сейчас мы не умеем надёжно задавать цели и ограничения системам, которые создаем. Мы не всегда даже может определить цели системы, которую создаем. Мы даже не договорились что значит задавать системе цель.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Но мы создаем ИИ.</a:t>
            </a:r>
            <a:endParaRPr/>
          </a:p>
        </p:txBody>
      </p:sp>
      <p:sp>
        <p:nvSpPr>
          <p:cNvPr id="167" name="Google Shape;167;p33"/>
          <p:cNvSpPr txBox="1"/>
          <p:nvPr>
            <p:ph idx="2" type="body"/>
          </p:nvPr>
        </p:nvSpPr>
        <p:spPr>
          <a:xfrm>
            <a:off x="3448525" y="1821275"/>
            <a:ext cx="4721100" cy="27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Термин принадлежит Нейту Соаресу, он определил его как: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figure out how to aim optimization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А в другом месте как</a:t>
            </a:r>
            <a:endParaRPr i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Directing a capable AI towards an objective of your choosing.</a:t>
            </a:r>
            <a:endParaRPr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Ontology identification problem</a:t>
            </a:r>
            <a:endParaRPr/>
          </a:p>
        </p:txBody>
      </p:sp>
      <p:sp>
        <p:nvSpPr>
          <p:cNvPr id="173" name="Google Shape;173;p34"/>
          <p:cNvSpPr txBox="1"/>
          <p:nvPr>
            <p:ph idx="1" type="body"/>
          </p:nvPr>
        </p:nvSpPr>
        <p:spPr>
          <a:xfrm>
            <a:off x="311700" y="1915475"/>
            <a:ext cx="2790900" cy="26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Проблема идентификации онтологии (Ontology Identification Problem) касается связи между человеческими понятиями и внутренним представлением мира у ИИ.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Она возникает при попытке передать системе цели, которые сформулированы на языке человеческих абстракций.</a:t>
            </a:r>
            <a:endParaRPr/>
          </a:p>
        </p:txBody>
      </p:sp>
      <p:sp>
        <p:nvSpPr>
          <p:cNvPr id="174" name="Google Shape;174;p34"/>
          <p:cNvSpPr txBox="1"/>
          <p:nvPr>
            <p:ph idx="2" type="body"/>
          </p:nvPr>
        </p:nvSpPr>
        <p:spPr>
          <a:xfrm>
            <a:off x="3448525" y="1821275"/>
            <a:ext cx="5289000" cy="27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Как абстракции высокого уровня вырастают из сенсорных данных?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Могут ли существовать ли универсальные естественные категории (строительные блоки для выучивания онтологии), которые любая интеллектуальная система обнаружит в нашей вселенной?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Как существующие онтологии могут проявляться в поведении LLM? Что релевантное онтологии мы могли бы измерить?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Перерыв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Часть 2. </a:t>
            </a:r>
            <a:r>
              <a:rPr lang="en"/>
              <a:t>Об исследовании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 какие вопросы мы хотим ответить</a:t>
            </a:r>
            <a:endParaRPr/>
          </a:p>
        </p:txBody>
      </p:sp>
      <p:sp>
        <p:nvSpPr>
          <p:cNvPr id="190" name="Google Shape;190;p37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Что такое «Цель» как паттерн на исходах.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Почему речь всегда идет об онтологии наблюдателя. (И Иногда о дополнительных онтологиях)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Концепция «слотов цели» и естественной целенаправленности.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Что из этого и как проявляется в поведении (и можно измерить)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Как это измерить?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связаны central </a:t>
            </a:r>
            <a:r>
              <a:rPr lang="en"/>
              <a:t>alignment</a:t>
            </a:r>
            <a:r>
              <a:rPr lang="en"/>
              <a:t> problem и ontology identification problem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Цель ИИ как паттерн исходах</a:t>
            </a:r>
            <a:endParaRPr/>
          </a:p>
        </p:txBody>
      </p:sp>
      <p:sp>
        <p:nvSpPr>
          <p:cNvPr id="201" name="Google Shape;201;p39"/>
          <p:cNvSpPr txBox="1"/>
          <p:nvPr>
            <p:ph idx="1" type="body"/>
          </p:nvPr>
        </p:nvSpPr>
        <p:spPr>
          <a:xfrm>
            <a:off x="311700" y="1152475"/>
            <a:ext cx="846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36"/>
              <a:t>Создание у ИИ чего-либо, хотя бы отдаленно напоминающего «слот цели» — стабильный в условиях различных эксплуатационных нагрузок (например, рефлексии) в процессе работы, — представляет собой задачу, требующую само по себе виртуозного владения вопросами теории интеллекта.</a:t>
            </a:r>
            <a:endParaRPr sz="1436"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36"/>
              <a:t>What I mean by "alignment is in large part about making cognition aimable at all"</a:t>
            </a:r>
            <a:br>
              <a:rPr lang="en" sz="1436"/>
            </a:br>
            <a:r>
              <a:rPr lang="en" sz="1436"/>
              <a:t>by So8res</a:t>
            </a:r>
            <a:endParaRPr sz="143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Как можно операционализировать “цель”:</a:t>
            </a:r>
            <a:endParaRPr b="1"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функция потерь / вознаграждения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внутреннее представление цели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Паттерн на исходах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Важнее всего — не смешивать в рамках одной дискуссии различные значения понятия «цель ИИ»: вознаграждение или потери, на которых происходило его обучение; внутреннее представление поведенческих побуждений (того, чего система, возможно, «думает», что хочет); и, наконец, паттерн исходов — то, к чему система фактически приводит в конечном счете.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В контексте наших прикладных исследований безопасности ИИ, мы видим смысл отдавать приоритет именно третьему аспекту.</a:t>
            </a:r>
            <a:endParaRPr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 что такое цель и почему именно ее сложно задать?</a:t>
            </a:r>
            <a:endParaRPr/>
          </a:p>
        </p:txBody>
      </p:sp>
      <p:pic>
        <p:nvPicPr>
          <p:cNvPr id="207" name="Google Shape;20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0544" y="1332025"/>
            <a:ext cx="1489634" cy="15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0"/>
          <p:cNvSpPr txBox="1"/>
          <p:nvPr/>
        </p:nvSpPr>
        <p:spPr>
          <a:xfrm>
            <a:off x="7382153" y="714625"/>
            <a:ext cx="261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Reward is not the optimization target — AI Alignment Forum</a:t>
            </a:r>
            <a:endParaRPr/>
          </a:p>
        </p:txBody>
      </p:sp>
      <p:pic>
        <p:nvPicPr>
          <p:cNvPr id="209" name="Google Shape;209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403702"/>
            <a:ext cx="4625524" cy="13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0"/>
          <p:cNvSpPr txBox="1"/>
          <p:nvPr/>
        </p:nvSpPr>
        <p:spPr>
          <a:xfrm>
            <a:off x="7153450" y="2853625"/>
            <a:ext cx="250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Goal Misgeneralisation –  DeepMind </a:t>
            </a:r>
            <a:endParaRPr/>
          </a:p>
        </p:txBody>
      </p:sp>
      <p:pic>
        <p:nvPicPr>
          <p:cNvPr id="211" name="Google Shape;211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7601" y="3303571"/>
            <a:ext cx="1489625" cy="145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8225" y="3456737"/>
            <a:ext cx="1489625" cy="148964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0"/>
          <p:cNvSpPr txBox="1"/>
          <p:nvPr/>
        </p:nvSpPr>
        <p:spPr>
          <a:xfrm>
            <a:off x="93292" y="2933525"/>
            <a:ext cx="250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9"/>
              </a:rPr>
              <a:t>Specification gaming: the flip side of AI ingenuity — Google DeepMind</a:t>
            </a:r>
            <a:endParaRPr/>
          </a:p>
        </p:txBody>
      </p:sp>
      <p:pic>
        <p:nvPicPr>
          <p:cNvPr id="214" name="Google Shape;214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59025" y="3436799"/>
            <a:ext cx="1489625" cy="150957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0"/>
          <p:cNvSpPr txBox="1"/>
          <p:nvPr/>
        </p:nvSpPr>
        <p:spPr>
          <a:xfrm>
            <a:off x="5058650" y="2853625"/>
            <a:ext cx="232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1"/>
              </a:rPr>
              <a:t>Recent Frontier Models Are Reward Hacking - METR</a:t>
            </a:r>
            <a:endParaRPr/>
          </a:p>
        </p:txBody>
      </p:sp>
      <p:pic>
        <p:nvPicPr>
          <p:cNvPr id="216" name="Google Shape;216;p4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82375" y="3453321"/>
            <a:ext cx="1489625" cy="149645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0"/>
          <p:cNvSpPr txBox="1"/>
          <p:nvPr/>
        </p:nvSpPr>
        <p:spPr>
          <a:xfrm>
            <a:off x="2616225" y="30828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13"/>
              </a:rPr>
              <a:t>Goal Misgeneralization - YouTube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693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Причем здесь онтологии</a:t>
            </a:r>
            <a:endParaRPr/>
          </a:p>
        </p:txBody>
      </p:sp>
      <p:sp>
        <p:nvSpPr>
          <p:cNvPr id="228" name="Google Shape;228;p42"/>
          <p:cNvSpPr txBox="1"/>
          <p:nvPr>
            <p:ph idx="1" type="body"/>
          </p:nvPr>
        </p:nvSpPr>
        <p:spPr>
          <a:xfrm>
            <a:off x="311700" y="1152475"/>
            <a:ext cx="785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Нельзя назначить системе цель (в сымсле паттерна на исходах) в вакууме.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Free Lunch theorem  — </a:t>
            </a:r>
            <a:r>
              <a:rPr i="1" lang="en"/>
              <a:t>все алгоритмы в среднем одинаково плохо работают во всех возможных задачах.</a:t>
            </a:r>
            <a:endParaRPr i="1"/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Если обман плох, системе нужен способ узнать, что такое обман.</a:t>
            </a:r>
            <a:endParaRPr/>
          </a:p>
          <a:p>
            <a:pPr indent="-3000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Если мы хотим алмазы, нам нужно определить, что такое алмазы.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Как только станет возможным определить, что такое «алмазы», ​​большая часть сложной работы по построению онтологии уже будет сделана.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Трудно создать сколько-то формальную математическую модель — такую, в которой мы могли бы делать прогнозы и где система ИИ выглядела бы так, будто она действует в соответствии с концепциями, на которых основана эта мат модель.</a:t>
            </a:r>
            <a:endParaRPr b="1"/>
          </a:p>
          <a:p>
            <a:pPr indent="-35718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3240"/>
              <a:t>Онтология определяет, какие результаты различимы.</a:t>
            </a:r>
            <a:endParaRPr b="1" sz="324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И это определяет, какие паттерны на исходах вообще можно назначить (даже если мы знаем что сделать чтобы их назначать и способны это сделать).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Операционализация понятия «цель» в контексте безопасности ИИ</a:t>
            </a:r>
            <a:endParaRPr/>
          </a:p>
        </p:txBody>
      </p:sp>
      <p:sp>
        <p:nvSpPr>
          <p:cNvPr id="234" name="Google Shape;234;p43"/>
          <p:cNvSpPr txBox="1"/>
          <p:nvPr>
            <p:ph idx="1" type="body"/>
          </p:nvPr>
        </p:nvSpPr>
        <p:spPr>
          <a:xfrm>
            <a:off x="311700" y="1465750"/>
            <a:ext cx="8502300" cy="33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Некоторые системы, создаваемые человечеством, имеют явно выделенный слот цели. Другие — нет.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В системах  типа «штамп» цели жестко закодированы в архитектуру этой системы.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В системах типа «принтер» предусмотрен четкий интерфейс для постановки или корректировки целей.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86"/>
              <a:t>Большинство современных систем машинного обучения похоже относятся к  типу «штамп».</a:t>
            </a:r>
            <a:r>
              <a:rPr lang="en" sz="2086"/>
              <a:t> </a:t>
            </a:r>
            <a:endParaRPr sz="208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2086"/>
              <a:t>Или нет? Какие измеримые </a:t>
            </a:r>
            <a:r>
              <a:rPr i="1" lang="en" sz="2086"/>
              <a:t>свидетельства</a:t>
            </a:r>
            <a:r>
              <a:rPr i="1" lang="en" sz="2086"/>
              <a:t> могли бы нас убедить в одном или другом? </a:t>
            </a:r>
            <a:endParaRPr i="1" sz="208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86"/>
              <a:t>Если мы хотим, чтобы они поддавались целевому управлению, нам необходимо либо создавать их по принципу «принтера», либо найти способ внедрить соответствующий интерфейс уже в готовые системы.</a:t>
            </a:r>
            <a:endParaRPr b="1" sz="2086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2086"/>
              <a:t>Что мы могли бы сделать чтобы узнать больше о том, что уже есть в смысле целей, интрефеса для задания цели итд?</a:t>
            </a:r>
            <a:endParaRPr i="1" sz="2086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с точки зрения evals</a:t>
            </a:r>
            <a:endParaRPr/>
          </a:p>
        </p:txBody>
      </p:sp>
      <p:sp>
        <p:nvSpPr>
          <p:cNvPr id="240" name="Google Shape;240;p44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Цель = паттерн на исходах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Для выявления или формирования этого паттерна необходима онтология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Amiability</a:t>
            </a:r>
            <a:r>
              <a:rPr lang="en"/>
              <a:t> = интерфейс для управления этим паттерном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Что релевантное этим утверждениям можно измерять?</a:t>
            </a:r>
            <a:br>
              <a:rPr lang="en"/>
            </a:br>
            <a:br>
              <a:rPr lang="en"/>
            </a:br>
            <a:r>
              <a:rPr lang="en"/>
              <a:t>eval = способ зафиксировать паттерн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benchmark = конкретная онтология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prompting / fine-tuning = интерфейс управления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/>
          <p:nvPr>
            <p:ph type="title"/>
          </p:nvPr>
        </p:nvSpPr>
        <p:spPr>
          <a:xfrm>
            <a:off x="311700" y="445025"/>
            <a:ext cx="7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Вопросы исследования</a:t>
            </a:r>
            <a:endParaRPr/>
          </a:p>
        </p:txBody>
      </p:sp>
      <p:sp>
        <p:nvSpPr>
          <p:cNvPr id="246" name="Google Shape;246;p45"/>
          <p:cNvSpPr txBox="1"/>
          <p:nvPr>
            <p:ph idx="1" type="body"/>
          </p:nvPr>
        </p:nvSpPr>
        <p:spPr>
          <a:xfrm>
            <a:off x="311700" y="1152475"/>
            <a:ext cx="60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1381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440"/>
              <a:t>Как обойти проблему трансляции между двумя неизвестными нам онтологиями?</a:t>
            </a:r>
            <a:endParaRPr b="1" sz="2440"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Ответы на какие вопросы дадут нам больше знаний и способности задавать более осмысленные вопросы? 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К</a:t>
            </a:r>
            <a:r>
              <a:rPr lang="en"/>
              <a:t>ак модель структурирует пространство понятий?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Какие поведенческие паттерны достаточно устойчивы, чтобы их было осмысленно называть goal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Какие свойства паттерна можно трактовать как указывающие на goal-directedness, а какие нет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Amiability проявляется тогда, когда короткий сигнал в слот цели порождает сложный, структурированный паттерн на выходе. Вычисление этого «коэффициента усиления управления» могло бы стать </a:t>
            </a:r>
            <a:r>
              <a:rPr lang="en"/>
              <a:t>интересным</a:t>
            </a:r>
            <a:r>
              <a:rPr lang="en"/>
              <a:t> эвалсом.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Взаимная информация между слотом и исходом. Мы берем предполагаемый «слот» (например, системный промпт или активации определенного слоя если мехинтерп методы тоже берем) и измеряем, сколько информации о финальном паттерне он несет. Если I(Slot; Outcome) высокая, слот сколько-то валиден.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Вопросы и ответы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999999"/>
      </a:dk1>
      <a:lt1>
        <a:srgbClr val="212121"/>
      </a:lt1>
      <a:dk2>
        <a:srgbClr val="303030"/>
      </a:dk2>
      <a:lt2>
        <a:srgbClr val="EFEFEF"/>
      </a:lt2>
      <a:accent1>
        <a:srgbClr val="E06666"/>
      </a:accent1>
      <a:accent2>
        <a:srgbClr val="F35555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E06666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