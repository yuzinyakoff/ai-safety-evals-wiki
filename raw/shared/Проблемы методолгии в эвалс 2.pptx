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slide" Target="slides/slide19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1943c6a5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1943c6a5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1be8ee2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1be8ee2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6c32800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6c3280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cba2e96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cba2e96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53b2695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53b2695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1be8ee23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1be8ee23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be8ee23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1be8ee23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cba2e96f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cba2e96f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cba2e96f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cba2e96f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ba2e96f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cba2e96f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cba2e96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cba2e96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cba2e96f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cba2e96f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56c3280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56c3280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56c32800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56c32800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ba2e96f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cba2e96f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cba2e96f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cba2e96f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cba2e96f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cba2e96f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cba2e96f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cba2e96f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1be8ee23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1be8ee23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464103" y="744575"/>
            <a:ext cx="56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64100" y="2834125"/>
            <a:ext cx="5246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3448525" y="1821275"/>
            <a:ext cx="2618400" cy="27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2" name="Google Shape;72;p17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 1">
  <p:cSld name="TITLE_AND_TWO_COLUMNS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272150"/>
            <a:ext cx="72159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311700" y="1457275"/>
            <a:ext cx="25848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3689400" y="1457275"/>
            <a:ext cx="26862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8"/>
          <p:cNvSpPr txBox="1"/>
          <p:nvPr>
            <p:ph idx="3" type="subTitle"/>
          </p:nvPr>
        </p:nvSpPr>
        <p:spPr>
          <a:xfrm>
            <a:off x="332025" y="1055775"/>
            <a:ext cx="3417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1800"/>
              <a:buNone/>
              <a:defRPr>
                <a:solidFill>
                  <a:srgbClr val="F355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4" type="subTitle"/>
          </p:nvPr>
        </p:nvSpPr>
        <p:spPr>
          <a:xfrm>
            <a:off x="3684825" y="1055775"/>
            <a:ext cx="3417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1800"/>
              <a:buNone/>
              <a:defRPr>
                <a:solidFill>
                  <a:srgbClr val="F355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1" name="Google Shape;81;p18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8"/>
          <p:cNvCxnSpPr/>
          <p:nvPr/>
        </p:nvCxnSpPr>
        <p:spPr>
          <a:xfrm>
            <a:off x="3537000" y="1588775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8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134">
          <p15:clr>
            <a:srgbClr val="E46962"/>
          </p15:clr>
        </p15:guide>
        <p15:guide id="2" pos="351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9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9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311700" y="1766400"/>
            <a:ext cx="3550500" cy="28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20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20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8" name="Google Shape;98;p21"/>
          <p:cNvCxnSpPr/>
          <p:nvPr/>
        </p:nvCxnSpPr>
        <p:spPr>
          <a:xfrm rot="10800000">
            <a:off x="341375" y="1266525"/>
            <a:ext cx="0" cy="2658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2" name="Google Shape;102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311700" y="3152225"/>
            <a:ext cx="60312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0"/>
            <a:ext cx="985437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unito"/>
              <a:buNone/>
              <a:defRPr sz="28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"/>
              <a:buChar char="●"/>
              <a:defRPr sz="1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900" y="4797900"/>
            <a:ext cx="372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Центр дополнительного образования “Моноид” </a:t>
            </a:r>
            <a:r>
              <a:rPr b="1" i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2026</a:t>
            </a:r>
            <a:endParaRPr b="1" i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www2.nau.edu/gaud/bio301/content/spngen.htm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www.alignmentforum.org/w/sharp-left-tur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pmc.ncbi.nlm.nih.gov/articles/PMC4561347/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www.smithsonianmag.com/science-nature/lunar-bat-men-the-planet-vulcan-and-martian-canals-76074171/" TargetMode="Externa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hyperlink" Target="https://www.alignmentforum.org/posts/PwnadG4BFjaER3MGf/interpretability-will-not-reliably-find-deceptive-ai" TargetMode="External"/><Relationship Id="rId12" Type="http://schemas.openxmlformats.org/officeDocument/2006/relationships/hyperlink" Target="https://openreview.net/pdf?id=mdA5lVvNcU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s://arxiv.org/abs/2010.06595" TargetMode="External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hyperlink" Target="https://www.lesswrong.com/posts/Fut8dtFsBYRz8atFF/the-natural-abstraction-hypothesis-implications-and-evidence" TargetMode="External"/><Relationship Id="rId7" Type="http://schemas.openxmlformats.org/officeDocument/2006/relationships/image" Target="../media/image7.png"/><Relationship Id="rId8" Type="http://schemas.openxmlformats.org/officeDocument/2006/relationships/hyperlink" Target="https://www.alignmentforum.org/posts/MG4ZjWQDrdpgeu8wG/zoom-in-an-introduction-to-circuit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2601.03986" TargetMode="External"/><Relationship Id="rId5" Type="http://schemas.openxmlformats.org/officeDocument/2006/relationships/image" Target="../media/image12.png"/><Relationship Id="rId6" Type="http://schemas.openxmlformats.org/officeDocument/2006/relationships/hyperlink" Target="https://arxiv.org/html/2603.17067v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hyperlink" Target="https://www.lesswrong.com/posts/Xxp6Tm8BKTkcb2m5M/why-ai-evaluation-regimes-are-ba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Лекция 2: роль evals в AI safety</a:t>
            </a:r>
            <a:endParaRPr sz="326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445025"/>
            <a:ext cx="827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Проблема методологии evals в контексте AI safety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68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Этот цикл из трех лекций про то, почему методология evals и ее улучшение, это релевантная для AI safety задача.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Лекция 1: про контекст в котором возникает проблема,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Лекция 2: про evals как эмпирический инструмент исследований и </a:t>
            </a:r>
            <a:r>
              <a:rPr lang="en"/>
              <a:t>про подходы к улучшению методологии evals.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Лекция 3: про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311700" y="281219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Лекция 1: про evals как эмпирический инструмент и про подходы к улучшению методологии evals.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лекции: понять достаточно, чтобы увидеть потенциал evals решить существующие проблемы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 txBox="1"/>
          <p:nvPr>
            <p:ph idx="2" type="body"/>
          </p:nvPr>
        </p:nvSpPr>
        <p:spPr>
          <a:xfrm>
            <a:off x="4644875" y="1214600"/>
            <a:ext cx="4201800" cy="31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463"/>
              <a:t>План встречи:</a:t>
            </a:r>
            <a:endParaRPr b="1" sz="146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en" sz="1763"/>
              <a:t>Часть 1. Как нарушить рецепт науки</a:t>
            </a:r>
            <a:endParaRPr b="1" sz="1763"/>
          </a:p>
          <a:p>
            <a:pPr indent="-32146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Нет проверки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Плохие проверки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Нет теории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Плохие теории</a:t>
            </a:r>
            <a:endParaRPr sz="146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en" sz="1763"/>
              <a:t>Часть 2. Роль эвалс в сейфети</a:t>
            </a:r>
            <a:endParaRPr b="1" sz="1763"/>
          </a:p>
          <a:p>
            <a:pPr indent="-32146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Рамка угроз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Потенциал evals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Претензии к evals</a:t>
            </a:r>
            <a:endParaRPr sz="146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i="1" lang="en" sz="1463"/>
              <a:t>  Длительность встречи: 2 часа </a:t>
            </a:r>
            <a:endParaRPr i="1" sz="146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было </a:t>
            </a:r>
            <a:br>
              <a:rPr lang="en"/>
            </a:br>
            <a:r>
              <a:rPr lang="en"/>
              <a:t>в прошлый раз</a:t>
            </a:r>
            <a:endParaRPr/>
          </a:p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Цель лекции: понять достаточно, чтобы увидеть саму проблему и заметить, что ее решение полезно для AI safety.</a:t>
            </a:r>
            <a:endParaRPr/>
          </a:p>
        </p:txBody>
      </p:sp>
      <p:sp>
        <p:nvSpPr>
          <p:cNvPr id="138" name="Google Shape;138;p29"/>
          <p:cNvSpPr txBox="1"/>
          <p:nvPr>
            <p:ph idx="2" type="body"/>
          </p:nvPr>
        </p:nvSpPr>
        <p:spPr>
          <a:xfrm>
            <a:off x="3448525" y="144400"/>
            <a:ext cx="5169000" cy="48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Что такое hard bits of alignment: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задать системе предсказуемую заранее определенную цель и ограничения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Почему их не адресуют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Нет теории ИИ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Grown not built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Некоторые решения негде подсмотреть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Проблема как неравенство скоростей: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скорость внедрения ИИ значительно превосходит скорость накопления знаний по тому почему ИИ работает так как работает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Как решить ее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Замедлить разработку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Ускорить безопасность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Увеличить количество людей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Повысить эффективность их работы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Увеличить экспертность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b="1" lang="en" u="sng"/>
              <a:t>Улучшить инструменты</a:t>
            </a:r>
            <a:endParaRPr b="1" u="s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Часть 1. </a:t>
            </a:r>
            <a:r>
              <a:rPr lang="en"/>
              <a:t>Как нарушить рецепт науки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00" y="156113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наука весьма неплохо работает когда есть схема</a:t>
            </a:r>
            <a:endParaRPr/>
          </a:p>
        </p:txBody>
      </p:sp>
      <p:sp>
        <p:nvSpPr>
          <p:cNvPr id="149" name="Google Shape;149;p31"/>
          <p:cNvSpPr/>
          <p:nvPr/>
        </p:nvSpPr>
        <p:spPr>
          <a:xfrm>
            <a:off x="765650" y="2798030"/>
            <a:ext cx="1670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хорошая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2588875" y="2798030"/>
            <a:ext cx="1889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проверка практикой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4631100" y="2798030"/>
            <a:ext cx="1670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хороших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6454325" y="2798030"/>
            <a:ext cx="1670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теорий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261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Нет проверки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 txBox="1"/>
          <p:nvPr>
            <p:ph idx="1" type="body"/>
          </p:nvPr>
        </p:nvSpPr>
        <p:spPr>
          <a:xfrm>
            <a:off x="311700" y="1152475"/>
            <a:ext cx="6831300" cy="3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Наука до эмпирики сталкивалась с проблемами которые удалось массово решить с введением норм </a:t>
            </a:r>
            <a:r>
              <a:rPr lang="en"/>
              <a:t>экспериментальной</a:t>
            </a:r>
            <a:r>
              <a:rPr lang="en"/>
              <a:t> проверки.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Почему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не было развитой инфраструктуры проверки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хорошее описание уже было большим прогрессом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систематические наблюдения могут дать много ценного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Что это дало: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язык для обсуждения мира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традицию систематического объяснения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накопление наблюдений, без которого поздняя экспериментальная наука вообще не смогла бы стартовать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математические инструменты, которые позже стали основой точной науки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В AI Safety это все еще часто существуют теории без какой либо проверки практикой.</a:t>
            </a:r>
            <a:endParaRPr b="1"/>
          </a:p>
        </p:txBody>
      </p:sp>
      <p:sp>
        <p:nvSpPr>
          <p:cNvPr id="159" name="Google Shape;159;p32"/>
          <p:cNvSpPr/>
          <p:nvPr/>
        </p:nvSpPr>
        <p:spPr>
          <a:xfrm>
            <a:off x="3502250" y="56217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4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32"/>
          <p:cNvSpPr/>
          <p:nvPr/>
        </p:nvSpPr>
        <p:spPr>
          <a:xfrm>
            <a:off x="4679971" y="562177"/>
            <a:ext cx="1220700" cy="338400"/>
          </a:xfrm>
          <a:prstGeom prst="rect">
            <a:avLst/>
          </a:prstGeom>
          <a:solidFill>
            <a:srgbClr val="F4CCCC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проверка практикой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32"/>
          <p:cNvSpPr/>
          <p:nvPr/>
        </p:nvSpPr>
        <p:spPr>
          <a:xfrm>
            <a:off x="5999157" y="56217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хороших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" name="Google Shape;162;p32"/>
          <p:cNvSpPr/>
          <p:nvPr/>
        </p:nvSpPr>
        <p:spPr>
          <a:xfrm>
            <a:off x="7176878" y="56217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теорий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3" name="Google Shape;1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375" y="1349950"/>
            <a:ext cx="1696200" cy="165995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/>
          <p:nvPr/>
        </p:nvSpPr>
        <p:spPr>
          <a:xfrm>
            <a:off x="7215350" y="900575"/>
            <a:ext cx="177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Spontaneous Generation</a:t>
            </a:r>
            <a:endParaRPr/>
          </a:p>
        </p:txBody>
      </p:sp>
      <p:pic>
        <p:nvPicPr>
          <p:cNvPr id="165" name="Google Shape;16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5347" y="3379039"/>
            <a:ext cx="1773300" cy="166011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2"/>
          <p:cNvSpPr txBox="1"/>
          <p:nvPr/>
        </p:nvSpPr>
        <p:spPr>
          <a:xfrm>
            <a:off x="6410257" y="3020820"/>
            <a:ext cx="277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Sharp Left Turn — AI Alignment Forum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 все проверки одинаково полезны</a:t>
            </a:r>
            <a:endParaRPr/>
          </a:p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311700" y="1017725"/>
            <a:ext cx="6008400" cy="40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Вскоре после открытия рентгеновских лучей выдающийся французский физик по имени Проспер-Рене Блонло — который первым измерил скорость радиоволн и доказал, что они распространяются со скоростью света, — объявил об открытии удивительного нового явления: N-лучей. Эти лучи вызывали едва заметное свечение на экране. Чтобы его разглядеть, требовалось вглядываться очень пристально, но оно, несомненно, присутствовало. N-лучи обладали множеством любопытных свойств. Алюминий преломлял их, и с помощью алюминиевой призмы их можно было сфокусировать на специальным образом обработанной нити из сульфида кадмия, которая при этом начинала слабо светиться в темноте...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Вскоре десятки других ученых подтвердили результаты Блонло — особенно во Франции. Однако нашлись и другие ученые — в Англии и Германии, — которые заявляли, что не вполне уверены, видят ли они это слабое свечение. Блонло отвечал, что, вероятно, они просто неправильно настраивают аппаратуру.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Однажды Блонло проводил публичную демонстрацию N-лучей. Свет в зале погас, и его ассистент вслух комментировал происходящее — отмечая моменты усиления и ослабления свечения, пока Блонло выполнял свои манипуляции.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Это была самая обычная демонстрация: все результаты в точности соответствовали ожиданиям.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И это несмотря на то, что американский ученый по имени Роберт Вуд незаметно похитил алюминиевую призму, находившуюся в самом центре установки Блонло.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Так и закончилась история N-лучей.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ГПиМРМ, глава 22</a:t>
            </a:r>
            <a:endParaRPr/>
          </a:p>
        </p:txBody>
      </p:sp>
      <p:sp>
        <p:nvSpPr>
          <p:cNvPr id="173" name="Google Shape;173;p33"/>
          <p:cNvSpPr/>
          <p:nvPr/>
        </p:nvSpPr>
        <p:spPr>
          <a:xfrm>
            <a:off x="4343125" y="106627"/>
            <a:ext cx="1079100" cy="338400"/>
          </a:xfrm>
          <a:prstGeom prst="rect">
            <a:avLst/>
          </a:prstGeom>
          <a:solidFill>
            <a:srgbClr val="F4CCCC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хорошая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5520846" y="106627"/>
            <a:ext cx="12207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проверка практикой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3"/>
          <p:cNvSpPr/>
          <p:nvPr/>
        </p:nvSpPr>
        <p:spPr>
          <a:xfrm>
            <a:off x="6840032" y="10662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хороших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33"/>
          <p:cNvSpPr/>
          <p:nvPr/>
        </p:nvSpPr>
        <p:spPr>
          <a:xfrm>
            <a:off x="8017753" y="10662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теорий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414" y="975383"/>
            <a:ext cx="1682525" cy="166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3"/>
          <p:cNvSpPr txBox="1"/>
          <p:nvPr/>
        </p:nvSpPr>
        <p:spPr>
          <a:xfrm>
            <a:off x="6695414" y="469775"/>
            <a:ext cx="240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Revisiting the mitogenetic effect of ultra-weak photon emission - PMC</a:t>
            </a: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 rotWithShape="1">
          <a:blip r:embed="rId5">
            <a:alphaModFix/>
          </a:blip>
          <a:srcRect b="0" l="7175" r="0" t="6103"/>
          <a:stretch/>
        </p:blipFill>
        <p:spPr>
          <a:xfrm>
            <a:off x="6610625" y="3408032"/>
            <a:ext cx="1682525" cy="15939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3"/>
          <p:cNvSpPr txBox="1"/>
          <p:nvPr/>
        </p:nvSpPr>
        <p:spPr>
          <a:xfrm>
            <a:off x="6610625" y="2763800"/>
            <a:ext cx="253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Lunar Bat-men, the Planet Vulcan and Martian Canals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 что в сейфети и эвалс?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00" y="3600150"/>
            <a:ext cx="1478750" cy="146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4"/>
          <p:cNvSpPr txBox="1"/>
          <p:nvPr/>
        </p:nvSpPr>
        <p:spPr>
          <a:xfrm>
            <a:off x="142000" y="3076950"/>
            <a:ext cx="258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With Little Power Comes Great Responsibility</a:t>
            </a:r>
            <a:endParaRPr/>
          </a:p>
        </p:txBody>
      </p:sp>
      <p:pic>
        <p:nvPicPr>
          <p:cNvPr id="188" name="Google Shape;18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5500" y="1540925"/>
            <a:ext cx="1343200" cy="13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4"/>
          <p:cNvSpPr txBox="1"/>
          <p:nvPr/>
        </p:nvSpPr>
        <p:spPr>
          <a:xfrm>
            <a:off x="3123225" y="10177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The Natural Abstraction Hypothesis: Implications and Evidence — LessWrong</a:t>
            </a:r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175" y="1512000"/>
            <a:ext cx="1343200" cy="136718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/>
          <p:nvPr/>
        </p:nvSpPr>
        <p:spPr>
          <a:xfrm>
            <a:off x="251175" y="1017725"/>
            <a:ext cx="252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8"/>
              </a:rPr>
              <a:t>Zoom In: An Introduction to Circuits — AI Alignment Forum</a:t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98850" y="1589450"/>
            <a:ext cx="1472441" cy="146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6412989" y="10177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0"/>
              </a:rPr>
              <a:t>Interpretability Will Not Reliably Find Deceptive AI — AI Alignment Forum</a:t>
            </a:r>
            <a:endParaRPr/>
          </a:p>
        </p:txBody>
      </p:sp>
      <p:pic>
        <p:nvPicPr>
          <p:cNvPr id="194" name="Google Shape;194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77698" y="3583080"/>
            <a:ext cx="1478750" cy="140802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/>
        </p:nvSpPr>
        <p:spPr>
          <a:xfrm>
            <a:off x="3123225" y="3076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2"/>
              </a:rPr>
              <a:t>Measuring what Matters: Construct Validity in Large Language Model Benchmarks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Нет теории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эмпирика есть, но нет хорошей модели, которая связывает наблюдаемое с ненаблюдаемым.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Которая позволяет говорить о причинах и следствиях.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Которая позволяет </a:t>
            </a:r>
            <a:r>
              <a:rPr b="1" lang="en"/>
              <a:t>обобщать</a:t>
            </a:r>
            <a:r>
              <a:rPr lang="en"/>
              <a:t> наблюдения.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5"/>
          <p:cNvSpPr/>
          <p:nvPr/>
        </p:nvSpPr>
        <p:spPr>
          <a:xfrm>
            <a:off x="4343125" y="10662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хорошая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35"/>
          <p:cNvSpPr/>
          <p:nvPr/>
        </p:nvSpPr>
        <p:spPr>
          <a:xfrm>
            <a:off x="5520846" y="106627"/>
            <a:ext cx="12207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проверка практикой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35"/>
          <p:cNvSpPr/>
          <p:nvPr/>
        </p:nvSpPr>
        <p:spPr>
          <a:xfrm>
            <a:off x="6840032" y="10662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хороших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35"/>
          <p:cNvSpPr/>
          <p:nvPr/>
        </p:nvSpPr>
        <p:spPr>
          <a:xfrm>
            <a:off x="8017753" y="106627"/>
            <a:ext cx="1079100" cy="338400"/>
          </a:xfrm>
          <a:prstGeom prst="rect">
            <a:avLst/>
          </a:prstGeom>
          <a:solidFill>
            <a:srgbClr val="F4CCCC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теорий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025" y="1200275"/>
            <a:ext cx="1569875" cy="14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5"/>
          <p:cNvSpPr txBox="1"/>
          <p:nvPr/>
        </p:nvSpPr>
        <p:spPr>
          <a:xfrm>
            <a:off x="6683275" y="677075"/>
            <a:ext cx="227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Benchmark^2: Systematic Evaluation of LLM Benchmarks</a:t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1548" y="3557531"/>
            <a:ext cx="1413575" cy="143356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6683275" y="30343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Evaluating Ill-Defined Tasks in Large Language Models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 все теории одинаково полезны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Нефальсифицируемость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Неконсистентность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Нет границ применимости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PS: раз уж мы изобрели\открыли математику, возможно мы хотим ей пользоваться…</a:t>
            </a:r>
            <a:endParaRPr i="1"/>
          </a:p>
        </p:txBody>
      </p:sp>
      <p:sp>
        <p:nvSpPr>
          <p:cNvPr id="216" name="Google Shape;216;p36"/>
          <p:cNvSpPr/>
          <p:nvPr/>
        </p:nvSpPr>
        <p:spPr>
          <a:xfrm>
            <a:off x="4343125" y="10662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хорошая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36"/>
          <p:cNvSpPr/>
          <p:nvPr/>
        </p:nvSpPr>
        <p:spPr>
          <a:xfrm>
            <a:off x="5520846" y="106627"/>
            <a:ext cx="12207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проверка практикой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36"/>
          <p:cNvSpPr/>
          <p:nvPr/>
        </p:nvSpPr>
        <p:spPr>
          <a:xfrm>
            <a:off x="6840032" y="106627"/>
            <a:ext cx="1079100" cy="338400"/>
          </a:xfrm>
          <a:prstGeom prst="rect">
            <a:avLst/>
          </a:prstGeom>
          <a:solidFill>
            <a:srgbClr val="F4CCCC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хороших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8017753" y="106627"/>
            <a:ext cx="1079100" cy="338400"/>
          </a:xfrm>
          <a:prstGeom prst="rect">
            <a:avLst/>
          </a:prstGeom>
          <a:solidFill>
            <a:schemeClr val="lt2"/>
          </a:solidFill>
          <a:ln cap="flat" cmpd="sng" w="6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4">
                <a:latin typeface="Nunito"/>
                <a:ea typeface="Nunito"/>
                <a:cs typeface="Nunito"/>
                <a:sym typeface="Nunito"/>
              </a:rPr>
              <a:t>теорий</a:t>
            </a:r>
            <a:endParaRPr sz="904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Итоги</a:t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Э</a:t>
            </a:r>
            <a:r>
              <a:rPr lang="en"/>
              <a:t>ксперимент отвечает на вопрос “что произошло”,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Теория отвечает на вопрос “что именно из этого следует”.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Когда теория плохая, на второй вопрос начинают отвечать как душе угодно. Получая что угодно, но не контроль через предсказательную силу.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Перерыв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Часть 2. </a:t>
            </a:r>
            <a:r>
              <a:rPr lang="en"/>
              <a:t>Роль эвалс в сейфети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Рамка угроз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ближний горизонт – провал по заявленным или подразумеваемым характеристикам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средний горизонт – проблемы вызванные внедрением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большой горизонт – цивилизационные и экзистенциальные риски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Потенциал evals</a:t>
            </a:r>
            <a:endParaRPr/>
          </a:p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операционализация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принятие решений про ИИ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накопление</a:t>
            </a:r>
            <a:r>
              <a:rPr lang="en"/>
              <a:t> знаний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Претензии к evals</a:t>
            </a:r>
            <a:endParaRPr/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Существует аргумент о бесполезности (или даже вредности) эвалс для сейфети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Если модель обладает скрытыми целями (dece</a:t>
            </a:r>
            <a:r>
              <a:rPr i="1" lang="en"/>
              <a:t>ptive alignment), она будет намеренно проходить тесты успешно. Мы измеряем поведение. Мы не измеряем намерение. Эвалы могут создать ложное чувство безопасности. Они превращают безопасность в игру по правилам, которые модель может выучить.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Мой ответ: прочитайте предыдущее утверждение заменив эвалс на рулетку, а задачу безопасности ИИ на задачу безопасности атомной электростанции.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Эмпирический подход в ИИ является необходимым этапом если мы хотим достичь стандартного в других областях уровня </a:t>
            </a:r>
            <a:r>
              <a:rPr b="1" lang="en"/>
              <a:t>инженерного</a:t>
            </a:r>
            <a:r>
              <a:rPr b="1" lang="en"/>
              <a:t> понимания. Он не заменяет математически обоснованную, проверяемую, консистентную теорию.</a:t>
            </a:r>
            <a:endParaRPr b="1"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1975" y="1591575"/>
            <a:ext cx="1609350" cy="16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2"/>
          <p:cNvSpPr txBox="1"/>
          <p:nvPr/>
        </p:nvSpPr>
        <p:spPr>
          <a:xfrm>
            <a:off x="6726950" y="950075"/>
            <a:ext cx="241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Why AI Evaluation Regimes are bad — LessWrong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Итоги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Эвалс уже существует и уже оказывает влияние на ландафт ИИ. Эти навыки </a:t>
            </a:r>
            <a:r>
              <a:rPr lang="en"/>
              <a:t>востребованы</a:t>
            </a:r>
            <a:r>
              <a:rPr lang="en"/>
              <a:t>. Ими можно пользоваться, чтобы адресовать самые разные задачи. В том числе парирование цивилизационных и экзистенциальных рисков от ИИ.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и ответы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999999"/>
      </a:dk1>
      <a:lt1>
        <a:srgbClr val="212121"/>
      </a:lt1>
      <a:dk2>
        <a:srgbClr val="303030"/>
      </a:dk2>
      <a:lt2>
        <a:srgbClr val="EFEFEF"/>
      </a:lt2>
      <a:accent1>
        <a:srgbClr val="E06666"/>
      </a:accent1>
      <a:accent2>
        <a:srgbClr val="F35555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E06666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